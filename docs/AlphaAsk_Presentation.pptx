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 evaluators and stakeholders. Team Alpha presents AlphaAsk—an enterprise-grade, cloud-native serverless AI platform engineered to solve academic support bottlenecks for educational institutions. Our team: Mustapha Haadi, David Yirenkyi, Daniel Hanson Reynolds, Adeeba Zakaria, Emmanuel Yelisomah, and Evame Cobblah — managed via Trello sprint boards to deliver a production-ready application.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Educational institutions face severe operational strain during exam periods. Students wait days for answers, hurting their learning velocity. AlphaAsk addresses this by providing instant 24/7 answers while maintaining zero infrastructure cost when idle.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AlphaAsk now combines four AI providers — OpenRouter, Groq, Gemini, and Bedrock — with discipline-aware model routing and a Strict RAG Grounding mode for document-based, anti-hallucination answers. A full academic study toolkit rounds out the platform: flashcards, a Pomodoro timer, and a citation manager.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is our complete AWS architecture. Student clients reach us through Cloudflare DNS and WAF, then CloudFront, into API Gateway, which proxies to our containerized FastAPI Lambda function inside a VPC. Data is persisted in DynamoDB and cached in ElastiCache Redis, while AI inference cascades across our 4-provider orchestrator: Bedrock, Groq, Gemini, and OpenRouter, all wired up behind an automated GitHub Actions and Terraform CI/CD pipeline with IAM and CloudWatch for security and observability.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reliability is paramount. Our engine now tries OpenRouter first — giving us access to 400+ models with subject-aware discipline routing — then falls back to Groq's native streaming, then Gemini, then Bedrock as the final resilience backstop. The student experiences unbroken streaming regardless of provider status.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optimized our database layer from expensive O(N x M) table scans to O(1) GSI queries by indexing alphaask-Questions on user_id. Redis protects our API from rate limit abuse with fail-open fallback.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CI/CD pipeline automates everything. When we push code, Stage 1 tests, Stage 2 verifies ECR, Stage 3 builds the Docker container, and Stage 4 runs terraform apply while dynamically injecting the new API Gateway URL into the frontend build.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Security and observability are built-in. We enforce least privilege IAM, bcrypt hashing, edge CORS at API Gateway, and CloudWatch alarms for real-time monitoring and log extraction.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documented and resolved 14 real engineering challenges across the project. The four most impactful: making Terraform deployments idempotent against live infrastructure, getting true native SSE streaming through API Gateway's buffering behavior, cleaning binary PDF pollution out of RAG context, and building discipline-aware model routing across six academic subjects.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conclusion, AlphaAsk meets 100% of the Azubi Africa Level 2 Project 3 specifications. We now transition to our Live Product, CI/CD, and AWS Console Demonstration.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4754880" cy="4754880"/>
          </a:xfrm>
          <a:prstGeom prst="ellipse">
            <a:avLst/>
          </a:prstGeom>
          <a:solidFill>
            <a:srgbClr val="F9731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206240"/>
            <a:ext cx="4206240" cy="4206240"/>
          </a:xfrm>
          <a:prstGeom prst="ellipse">
            <a:avLst/>
          </a:prstGeom>
          <a:solidFill>
            <a:srgbClr val="06B6D4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973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AZUBI AFRICA · LEVEL 2 · PROJECT 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155448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8FAFC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AlphaAsk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640080" y="278892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AI-Powered Student Academic Support Platform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324612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6B6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100% Serverless on AWS · 4-Provider AI Engine · RAG Grounding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3794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TEAM ALPHA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416052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445312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44531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F1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MH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26464" y="4453128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Mustapha Haadi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14400" y="523036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52303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F1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26464" y="5230368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David Yirenkyi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389120" y="416052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445312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18" name="Text 16"/>
          <p:cNvSpPr/>
          <p:nvPr/>
        </p:nvSpPr>
        <p:spPr>
          <a:xfrm>
            <a:off x="4663440" y="44531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F1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DH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175504" y="4453128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Daniel Hanson Reynolds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663440" y="523036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/>
        </p:spPr>
      </p:sp>
      <p:sp>
        <p:nvSpPr>
          <p:cNvPr id="21" name="Text 19"/>
          <p:cNvSpPr/>
          <p:nvPr/>
        </p:nvSpPr>
        <p:spPr>
          <a:xfrm>
            <a:off x="4663440" y="52303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F1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AZ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175504" y="5230368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Adeeba Zakaria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138160" y="416052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412480" y="445312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25" name="Text 23"/>
          <p:cNvSpPr/>
          <p:nvPr/>
        </p:nvSpPr>
        <p:spPr>
          <a:xfrm>
            <a:off x="8412480" y="44531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F1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924544" y="4453128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Emmanuel Yelisomah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412480" y="523036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/>
        </p:spPr>
      </p:sp>
      <p:sp>
        <p:nvSpPr>
          <p:cNvPr id="28" name="Text 26"/>
          <p:cNvSpPr/>
          <p:nvPr/>
        </p:nvSpPr>
        <p:spPr>
          <a:xfrm>
            <a:off x="8412480" y="52303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F1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EC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924544" y="5230368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Evame Cobblah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40080" y="60807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Presented by Team Alpha  ·  Managed via Trello Sprint Boards  ·  August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7295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355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ALPHAASK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973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CHALLENGE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Problem Statement &amp; Project Objectives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5486400" cy="4709160"/>
          </a:xfrm>
          <a:prstGeom prst="roundRect">
            <a:avLst>
              <a:gd name="adj" fmla="val 1553"/>
            </a:avLst>
          </a:prstGeom>
          <a:solidFill>
            <a:srgbClr val="273449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16916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973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ACADEMIC SUPPORT BOTTLENECK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68680" y="2203704"/>
            <a:ext cx="109728" cy="109728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2075688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Inquiry Surges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2350008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Support staff swamped with thousands of repetitive questions during midterms and finals.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68680" y="3255264"/>
            <a:ext cx="109728" cy="109728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3127248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Delayed Student Help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3401568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TAs and tutors take 24-72 hours to respond via email queues or office hours.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68680" y="4306824"/>
            <a:ext cx="109728" cy="109728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4178808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Strained Manual Resources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97280" y="4453128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Staff spend over 60% of their time answering basic, recurring questions.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68680" y="5358384"/>
            <a:ext cx="109728" cy="109728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8" name="Text 16"/>
          <p:cNvSpPr/>
          <p:nvPr/>
        </p:nvSpPr>
        <p:spPr>
          <a:xfrm>
            <a:off x="1097280" y="5230368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No Centralized Data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97280" y="5504688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Institutions lack automated tracking of common student learning gaps.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63640" y="1417320"/>
            <a:ext cx="5394960" cy="4709160"/>
          </a:xfrm>
          <a:prstGeom prst="roundRect">
            <a:avLst>
              <a:gd name="adj" fmla="val 155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583680" y="16916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6B6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CORE PROJECT OBJECTIVES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583680" y="210312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6B6D4"/>
          </a:solidFill>
          <a:ln/>
        </p:spPr>
      </p:sp>
      <p:sp>
        <p:nvSpPr>
          <p:cNvPr id="23" name="Text 21"/>
          <p:cNvSpPr/>
          <p:nvPr/>
        </p:nvSpPr>
        <p:spPr>
          <a:xfrm>
            <a:off x="6583680" y="2103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0F1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086600" y="2057400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Automate Query Resolution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086600" y="2368296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Instant AI-generated academic answers across Math, Science, Writing, Code, and History.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583680" y="315468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6B6D4"/>
          </a:solidFill>
          <a:ln/>
        </p:spPr>
      </p:sp>
      <p:sp>
        <p:nvSpPr>
          <p:cNvPr id="27" name="Text 25"/>
          <p:cNvSpPr/>
          <p:nvPr/>
        </p:nvSpPr>
        <p:spPr>
          <a:xfrm>
            <a:off x="6583680" y="3154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0F1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086600" y="3108960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Durable Persistence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086600" y="3419856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Store all user sessions, messages, and questions in Amazon DynamoDB.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583680" y="420624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6B6D4"/>
          </a:solidFill>
          <a:ln/>
        </p:spPr>
      </p:sp>
      <p:sp>
        <p:nvSpPr>
          <p:cNvPr id="31" name="Text 29"/>
          <p:cNvSpPr/>
          <p:nvPr/>
        </p:nvSpPr>
        <p:spPr>
          <a:xfrm>
            <a:off x="6583680" y="4206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0F1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086600" y="4160520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Automated CI/CD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086600" y="4471416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100% automated build, test, and deployment via GitHub Actions and Terraform.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583680" y="525780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6B6D4"/>
          </a:solidFill>
          <a:ln/>
        </p:spPr>
      </p:sp>
      <p:sp>
        <p:nvSpPr>
          <p:cNvPr id="35" name="Text 33"/>
          <p:cNvSpPr/>
          <p:nvPr/>
        </p:nvSpPr>
        <p:spPr>
          <a:xfrm>
            <a:off x="6583680" y="5257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0F1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4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086600" y="5212080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Zero Idle Overhead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086600" y="5522976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Fully serverless AWS execution with zero idle compute costs.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7295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355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ALPHAASK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973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Intelligent, Serverless, Always-On Assistance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5440680" cy="1691640"/>
          </a:xfrm>
          <a:prstGeom prst="roundRect">
            <a:avLst>
              <a:gd name="adj" fmla="val 432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87452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97316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0F1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63040" y="1856232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4-Provider AI Cascade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2468880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OpenRouter (400+ models) + Groq + Gemini + Bedrock — zero single point of failure.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72200" y="1600200"/>
            <a:ext cx="5440680" cy="1691640"/>
          </a:xfrm>
          <a:prstGeom prst="roundRect">
            <a:avLst>
              <a:gd name="adj" fmla="val 432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46520" y="187452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6B6D4"/>
          </a:solidFill>
          <a:ln/>
        </p:spPr>
      </p:sp>
      <p:sp>
        <p:nvSpPr>
          <p:cNvPr id="13" name="Text 11"/>
          <p:cNvSpPr/>
          <p:nvPr/>
        </p:nvSpPr>
        <p:spPr>
          <a:xfrm>
            <a:off x="644652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0F1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086600" y="1856232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Discipline Model Routing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46520" y="2468880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 academic subjects auto-routed to specialist models (DeepSeek-R1, Qwen-Coder, Claude).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474720"/>
            <a:ext cx="5440680" cy="1691640"/>
          </a:xfrm>
          <a:prstGeom prst="roundRect">
            <a:avLst>
              <a:gd name="adj" fmla="val 432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2960" y="37490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749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0F1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63040" y="3730752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RAG Strict Grounding Mode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22960" y="4343400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Chunked, keyword-scored document retrieval with anti-hallucination prompting.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72200" y="3474720"/>
            <a:ext cx="5440680" cy="1691640"/>
          </a:xfrm>
          <a:prstGeom prst="roundRect">
            <a:avLst>
              <a:gd name="adj" fmla="val 432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46520" y="37490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38BDF8"/>
          </a:solidFill>
          <a:ln/>
        </p:spPr>
      </p:sp>
      <p:sp>
        <p:nvSpPr>
          <p:cNvPr id="23" name="Text 21"/>
          <p:cNvSpPr/>
          <p:nvPr/>
        </p:nvSpPr>
        <p:spPr>
          <a:xfrm>
            <a:off x="6446520" y="3749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0F1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086600" y="3730752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Full Academic Study Toolkit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446520" y="4343400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Flashcard generator, Pomodoro timer, citation manager, and course workspaces.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" y="5166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KEY PRODUCT FEATURES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5550408"/>
            <a:ext cx="91440" cy="914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8" name="Text 26"/>
          <p:cNvSpPr/>
          <p:nvPr/>
        </p:nvSpPr>
        <p:spPr>
          <a:xfrm>
            <a:off x="777240" y="5413248"/>
            <a:ext cx="5349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Real-Time Streaming — native SSE via /api/ask/stream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172200" y="5550408"/>
            <a:ext cx="91440" cy="914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0" y="5413248"/>
            <a:ext cx="5349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 Academic Personas — Math, Science, Writing, Code, History, Study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48640" y="6053328"/>
            <a:ext cx="91440" cy="914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2" name="Text 30"/>
          <p:cNvSpPr/>
          <p:nvPr/>
        </p:nvSpPr>
        <p:spPr>
          <a:xfrm>
            <a:off x="777240" y="5916168"/>
            <a:ext cx="5349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Bookmarks, Course Workspaces &amp; Question History — DynamoDB-backed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172200" y="6053328"/>
            <a:ext cx="91440" cy="914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0" y="5916168"/>
            <a:ext cx="5349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Fail-Safe Rate Limiting — Redis sliding window vs. abuse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7295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355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ALPHAASK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973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End-to-End Serverless AWS Architecture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035431" y="1490472"/>
            <a:ext cx="8120833" cy="4800600"/>
          </a:xfrm>
          <a:prstGeom prst="roundRect">
            <a:avLst>
              <a:gd name="adj" fmla="val 1143"/>
            </a:avLst>
          </a:prstGeom>
          <a:solidFill>
            <a:srgbClr val="FFFFFF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7" name="Image 0" descr="/home/claude/alphaask_deck/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72591" y="1627632"/>
            <a:ext cx="7846513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7295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355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ALPHAASK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973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AI RELIABILITY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Multi-Provider AI Orchestration &amp; Streaming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4-PROVIDER FAILOVER CASCADE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5669280" cy="621792"/>
          </a:xfrm>
          <a:prstGeom prst="roundRect">
            <a:avLst>
              <a:gd name="adj" fmla="val 11765"/>
            </a:avLst>
          </a:prstGeom>
          <a:solidFill>
            <a:srgbClr val="273449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1993392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993392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0F1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PRIMARY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331720" y="1828800"/>
            <a:ext cx="3749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OpenRouter — 400+ models, discipline-routed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383280" y="2450592"/>
            <a:ext cx="0" cy="109728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48640" y="2560320"/>
            <a:ext cx="5669280" cy="621792"/>
          </a:xfrm>
          <a:prstGeom prst="roundRect">
            <a:avLst>
              <a:gd name="adj" fmla="val 11765"/>
            </a:avLst>
          </a:prstGeom>
          <a:solidFill>
            <a:srgbClr val="273449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77240" y="2724912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724912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0F1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FALLBACK 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331720" y="2560320"/>
            <a:ext cx="3749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Groq Cloud — Llama 3.3 70B, native SSE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383280" y="3182112"/>
            <a:ext cx="0" cy="109728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48640" y="3291840"/>
            <a:ext cx="5669280" cy="621792"/>
          </a:xfrm>
          <a:prstGeom prst="roundRect">
            <a:avLst>
              <a:gd name="adj" fmla="val 11765"/>
            </a:avLst>
          </a:prstGeom>
          <a:solidFill>
            <a:srgbClr val="273449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77240" y="3456432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3456432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0F1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FALLBACK 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331720" y="3291840"/>
            <a:ext cx="3749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Google Gemini — 2.5 / 2.0 Flash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383280" y="3913632"/>
            <a:ext cx="0" cy="109728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48640" y="4023360"/>
            <a:ext cx="5669280" cy="621792"/>
          </a:xfrm>
          <a:prstGeom prst="roundRect">
            <a:avLst>
              <a:gd name="adj" fmla="val 11765"/>
            </a:avLst>
          </a:prstGeom>
          <a:solidFill>
            <a:srgbClr val="273449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77240" y="4187952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4187952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0F1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FALLBACK 3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331720" y="4023360"/>
            <a:ext cx="3749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AWS Bedrock — Claude 3.5 (resilience backstop)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48640" y="4773168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94A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any provider failure or rate limit, the engine falls through to the next tier — the student never sees an interruption.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537960" y="1508760"/>
            <a:ext cx="5074920" cy="3337560"/>
          </a:xfrm>
          <a:prstGeom prst="roundRect">
            <a:avLst>
              <a:gd name="adj" fmla="val 219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858000" y="1737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6B6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REAL-TIME SSE TOKEN STREAMING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858000" y="21031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POST /api/ask/stream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858000" y="2560320"/>
            <a:ext cx="4434840" cy="777240"/>
          </a:xfrm>
          <a:prstGeom prst="roundRect">
            <a:avLst>
              <a:gd name="adj" fmla="val 7059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40880" y="2560320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data: {"content": "..."}\n\n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858000" y="352044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Native streaming on OpenRouter and Groq; graceful 3-word chunk emission fallback on Gemini/Bedrock.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858000" y="41605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USER BENEFIT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858000" y="438912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Eliminates long wait times — students see answers begin rendering within milliseconds.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537960" y="4983480"/>
            <a:ext cx="5074920" cy="1508760"/>
          </a:xfrm>
          <a:prstGeom prst="roundRect">
            <a:avLst>
              <a:gd name="adj" fmla="val 4848"/>
            </a:avLst>
          </a:prstGeom>
          <a:solidFill>
            <a:srgbClr val="273449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858000" y="5120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973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DISCIPLINE MODEL ROUTING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858000" y="544068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Math → DeepSeek-R1   ·   Code → Qwen-2.5-Coder   ·   Writing/History → Claude 3.5   ·   Science → Gemini Flash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858000" y="59436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Each of the 6 academic disciplines routes to a specialist model chain via OpenRouter.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7295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355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ALPHAASK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973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DATA LAYER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Data Architecture &amp; O(1) DynamoDB Optimization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2468880"/>
        </p:xfrm>
        <a:graphic>
          <a:graphicData uri="http://schemas.openxmlformats.org/drawingml/2006/table">
            <a:tbl>
              <a:tblPr/>
              <a:tblGrid>
                <a:gridCol w="2743200"/>
                <a:gridCol w="2103120"/>
                <a:gridCol w="3063240"/>
                <a:gridCol w="32004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Table</a:t>
                      </a:r>
                      <a:endParaRPr lang="en-US" sz="10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4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Partition Key</a:t>
                      </a:r>
                      <a:endParaRPr lang="en-US" sz="10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4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GSI</a:t>
                      </a:r>
                      <a:endParaRPr lang="en-US" sz="10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4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Function</a:t>
                      </a:r>
                      <a:endParaRPr lang="en-US" sz="10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44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alphaask-Users</a:t>
                      </a:r>
                      <a:endParaRPr lang="en-US" sz="10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4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user_id (S)</a:t>
                      </a:r>
                      <a:endParaRPr lang="en-US" sz="10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4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EmailIndex</a:t>
                      </a:r>
                      <a:endParaRPr lang="en-US" sz="10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4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Student auth &amp; profiles</a:t>
                      </a:r>
                      <a:endParaRPr lang="en-US" sz="10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44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alphaask-Sessions</a:t>
                      </a:r>
                      <a:endParaRPr lang="en-US" sz="10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4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session_id (S)</a:t>
                      </a:r>
                      <a:endParaRPr lang="en-US" sz="10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4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UserSessionsIndex</a:t>
                      </a:r>
                      <a:endParaRPr lang="en-US" sz="10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4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Conversation thread tracking</a:t>
                      </a:r>
                      <a:endParaRPr lang="en-US" sz="10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44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alphaask-Messages</a:t>
                      </a:r>
                      <a:endParaRPr lang="en-US" sz="10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4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message_id (S)</a:t>
                      </a:r>
                      <a:endParaRPr lang="en-US" sz="10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4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SessionMessagesIndex</a:t>
                      </a:r>
                      <a:endParaRPr lang="en-US" sz="10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4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Chronological chat history</a:t>
                      </a:r>
                      <a:endParaRPr lang="en-US" sz="10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44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alphaask-Questions</a:t>
                      </a:r>
                      <a:endParaRPr lang="en-US" sz="10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4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id (S)</a:t>
                      </a:r>
                      <a:endParaRPr lang="en-US" sz="10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4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UserQuestionsIndex</a:t>
                      </a:r>
                      <a:endParaRPr lang="en-US" sz="10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4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Fast question history lookups</a:t>
                      </a:r>
                      <a:endParaRPr lang="en-US" sz="10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44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alphaask-FAQ</a:t>
                      </a:r>
                      <a:endParaRPr lang="en-US" sz="10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4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faq_id (S)</a:t>
                      </a:r>
                      <a:endParaRPr lang="en-US" sz="10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4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US" sz="10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4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8FAF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Centralized institutional FAQs</a:t>
                      </a:r>
                      <a:endParaRPr lang="en-US" sz="10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449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1508760"/>
            <a:ext cx="11109960" cy="38404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150876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0F1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Table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383280" y="150876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0F1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Partition Key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486400" y="1508760"/>
            <a:ext cx="2880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0F1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GSI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549640" y="1508760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0F1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Function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48640" y="4206240"/>
            <a:ext cx="11109960" cy="1965960"/>
          </a:xfrm>
          <a:prstGeom prst="roundRect">
            <a:avLst>
              <a:gd name="adj" fmla="val 372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68680" y="43891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6B6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PERFORMANCE ENGINEERING: O(1) GSI INDEXING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68680" y="470916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F8FAF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Problem:  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Scanning session messages to build user question lists caused expensive O(N × M) table scans.
</a:t>
            </a:r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F8FAF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Optimization:  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Created UserQuestionsIndex GSI on alphaask-Questions. Question records write on answer creation, enabling O(1) GSI retrieval.
</a:t>
            </a:r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F8FAF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RAG Document Retrieval:  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Documents over 12,000 characters are chunked into 1,500-char passages (200-char overlap) and top-5 keyword-scored before injection.
</a:t>
            </a:r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F8FAF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Rate Limiting:  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ElastiCache Redis sliding-window token bucket (max 10 req/min per user) with graceful fail-open resilience.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7295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355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ALPHAASK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973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DEVOPS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Infrastructure as Code &amp; Automated CI/CD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11109960" cy="1005840"/>
          </a:xfrm>
          <a:prstGeom prst="roundRect">
            <a:avLst>
              <a:gd name="adj" fmla="val 7273"/>
            </a:avLst>
          </a:prstGeom>
          <a:solidFill>
            <a:srgbClr val="273449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6459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973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100% AUTOMATED DECLARATIVE INFRASTRUCTURE (TERRAFORM)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19659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Modules: ecr.tf · dynamodb.tf · elasticache.tf · iam.tf · lambda_apigw.tf · s3_cloudfront.tf   —   Zero drift: all AWS resources created, updated, and managed declaratively.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2743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4-STAGE GITHUB ACTIONS PIPELINE  ·  .github/workflows/deploy.yml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108960"/>
            <a:ext cx="2514600" cy="1234440"/>
          </a:xfrm>
          <a:prstGeom prst="roundRect">
            <a:avLst>
              <a:gd name="adj" fmla="val 592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77240" y="3291840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06B6D4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2918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0F1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31520" y="3767328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Test &amp; Validate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31520" y="402336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Pytest + Vitest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063240" y="3721608"/>
            <a:ext cx="32004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383280" y="3108960"/>
            <a:ext cx="2514600" cy="1234440"/>
          </a:xfrm>
          <a:prstGeom prst="roundRect">
            <a:avLst>
              <a:gd name="adj" fmla="val 592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11880" y="3291840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06B6D4"/>
          </a:solidFill>
          <a:ln/>
        </p:spPr>
      </p:sp>
      <p:sp>
        <p:nvSpPr>
          <p:cNvPr id="18" name="Text 16"/>
          <p:cNvSpPr/>
          <p:nvPr/>
        </p:nvSpPr>
        <p:spPr>
          <a:xfrm>
            <a:off x="3611880" y="32918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0F1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566160" y="3767328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Provision ECR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566160" y="402336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Repo Check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897880" y="3721608"/>
            <a:ext cx="32004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217920" y="3108960"/>
            <a:ext cx="2514600" cy="1234440"/>
          </a:xfrm>
          <a:prstGeom prst="roundRect">
            <a:avLst>
              <a:gd name="adj" fmla="val 592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46520" y="3291840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06B6D4"/>
          </a:solidFill>
          <a:ln/>
        </p:spPr>
      </p:sp>
      <p:sp>
        <p:nvSpPr>
          <p:cNvPr id="24" name="Text 22"/>
          <p:cNvSpPr/>
          <p:nvPr/>
        </p:nvSpPr>
        <p:spPr>
          <a:xfrm>
            <a:off x="6446520" y="32918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0F1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400800" y="3767328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Build &amp; Push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400800" y="402336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Docker Image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8732520" y="3721608"/>
            <a:ext cx="32004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052560" y="3108960"/>
            <a:ext cx="2514600" cy="1234440"/>
          </a:xfrm>
          <a:prstGeom prst="roundRect">
            <a:avLst>
              <a:gd name="adj" fmla="val 592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9281160" y="3291840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06B6D4"/>
          </a:solidFill>
          <a:ln/>
        </p:spPr>
      </p:sp>
      <p:sp>
        <p:nvSpPr>
          <p:cNvPr id="30" name="Text 28"/>
          <p:cNvSpPr/>
          <p:nvPr/>
        </p:nvSpPr>
        <p:spPr>
          <a:xfrm>
            <a:off x="9281160" y="32918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0F1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4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9235440" y="3767328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Deploy Infra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9235440" y="402336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Terraform + S3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48640" y="4572000"/>
            <a:ext cx="11109960" cy="1600200"/>
          </a:xfrm>
          <a:prstGeom prst="roundRect">
            <a:avLst>
              <a:gd name="adj" fmla="val 4571"/>
            </a:avLst>
          </a:prstGeom>
          <a:solidFill>
            <a:srgbClr val="273449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822960" y="47548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0B98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DYNAMIC API GATEWAY INJECTION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22960" y="507492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Stage 4 extracts API_URL from terraform output -raw api_gateway_url after terraform apply. Compiles the React SPA with VITE_API_BASE_URL and syncs dist/ to S3.
</a:t>
            </a:r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F8FAF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Result: 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destroying and recreating infrastructure automatically reconnects the frontend to the new API Gateway URL — no manual code changes.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7295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355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ALPHAASK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973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TRUST &amp; OPS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Security, IAM Compliance &amp; Observability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5486400" cy="4709160"/>
          </a:xfrm>
          <a:prstGeom prst="roundRect">
            <a:avLst>
              <a:gd name="adj" fmla="val 1553"/>
            </a:avLst>
          </a:prstGeom>
          <a:solidFill>
            <a:srgbClr val="273449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173736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973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ENTERPRISE SECURITY &amp; IAM HARDENING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68680" y="2249424"/>
            <a:ext cx="109728" cy="109728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2121408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Cloudflare Edge WAF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097280" y="2395728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DNS + Web Application Firewall in front of API Gateway, filtering malicious traffic at the edge.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68680" y="3300984"/>
            <a:ext cx="109728" cy="109728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3172968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Least Privilege IAM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097280" y="3447288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Policies restricted strictly to alphaask-* DynamoDB and Bedrock model ARNs.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68680" y="4352544"/>
            <a:ext cx="109728" cy="109728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4224528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Password &amp; Token Security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097280" y="4498848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bcrypt (12 rounds) hashing; JWTs signed with HS256, 8-hour session window.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68680" y="5404104"/>
            <a:ext cx="109728" cy="109728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8" name="Text 16"/>
          <p:cNvSpPr/>
          <p:nvPr/>
        </p:nvSpPr>
        <p:spPr>
          <a:xfrm>
            <a:off x="1097280" y="5276088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Startup Validator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097280" y="5550408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Pydantic validator enforces ≥32-char JWT secrets with safe fallbacks.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63640" y="1508760"/>
            <a:ext cx="5394960" cy="4709160"/>
          </a:xfrm>
          <a:prstGeom prst="roundRect">
            <a:avLst>
              <a:gd name="adj" fmla="val 155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583680" y="173736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6B6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CLOUDWATCH MONITORING &amp; OBSERVABILITY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583680" y="2249424"/>
            <a:ext cx="109728" cy="109728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23" name="Text 21"/>
          <p:cNvSpPr/>
          <p:nvPr/>
        </p:nvSpPr>
        <p:spPr>
          <a:xfrm>
            <a:off x="6812280" y="2121408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Log Streams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812280" y="2395728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/aws/lambda/alphaask-backend logs container startup, execution, and FastAPI requests.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583680" y="3209544"/>
            <a:ext cx="109728" cy="109728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26" name="Text 24"/>
          <p:cNvSpPr/>
          <p:nvPr/>
        </p:nvSpPr>
        <p:spPr>
          <a:xfrm>
            <a:off x="6812280" y="3081528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Gateway Metrics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812280" y="3355848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API Gateway access logs monitor latency, request counts, and HTTP status codes.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583680" y="4169664"/>
            <a:ext cx="109728" cy="109728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29" name="Text 27"/>
          <p:cNvSpPr/>
          <p:nvPr/>
        </p:nvSpPr>
        <p:spPr>
          <a:xfrm>
            <a:off x="6812280" y="4041648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8FAFC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Alarms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6812280" y="4315968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CloudWatch Alarms notify on Lambda error spikes and 5xx response thresholds.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7295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355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ALPHAASK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973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ENGINEERING DEPTH · 14 RESOLVED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Key Technical Challenges &amp; Solutions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11109960" cy="1170432"/>
          </a:xfrm>
          <a:prstGeom prst="roundRect">
            <a:avLst>
              <a:gd name="adj" fmla="val 6250"/>
            </a:avLst>
          </a:prstGeom>
          <a:solidFill>
            <a:srgbClr val="273449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618488"/>
            <a:ext cx="10607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9731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Terraform State Sync in CI/CD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22960" y="2039112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039112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0F1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ROOT CAUSE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377440" y="1965960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Ephemeral GitHub Actions runners start with empty state, causing ResourceInUseException on live tables/roles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720840" y="2039112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6720840" y="2039112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0F1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SOLUTION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29600" y="196596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8FAF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Pre-apply AWS CLI existence check + terraform import -lock=false before every apply — fully idempotent deploys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48640" y="2770632"/>
            <a:ext cx="11109960" cy="1170432"/>
          </a:xfrm>
          <a:prstGeom prst="roundRect">
            <a:avLst>
              <a:gd name="adj" fmla="val 625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22960" y="2880360"/>
            <a:ext cx="10607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9731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OpenRouter + Groq Native SSE via API Gateway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22960" y="3300984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300984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0F1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ROOT CAUSE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377440" y="3227832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API Gateway HTTP responses are traditionally buffered, breaking chunked SSE streams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720840" y="3300984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6720840" y="3300984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0F1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SOLUTION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229600" y="3227832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8FAF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HTTP API v2 (payload format 2.0) + StreamingResponse within the 29s API Gateway timeout, native chunked transfer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48640" y="4032504"/>
            <a:ext cx="11109960" cy="1170432"/>
          </a:xfrm>
          <a:prstGeom prst="roundRect">
            <a:avLst>
              <a:gd name="adj" fmla="val 6250"/>
            </a:avLst>
          </a:prstGeom>
          <a:solidFill>
            <a:srgbClr val="273449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22960" y="4142232"/>
            <a:ext cx="10607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9731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Binary PDF Byte Stream Pollution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822960" y="4562856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4562856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0F1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ROOT CAUSE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377440" y="4489704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FileReader.readAsText() on PDFs dumped raw font-table binary syntax into prompts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720840" y="4562856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</p:sp>
      <p:sp>
        <p:nvSpPr>
          <p:cNvPr id="28" name="Text 26"/>
          <p:cNvSpPr/>
          <p:nvPr/>
        </p:nvSpPr>
        <p:spPr>
          <a:xfrm>
            <a:off x="6720840" y="4562856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0F1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SOLUTION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229600" y="4489704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8FAF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Multi-stage clean_pdf_text_context(): pypdf extraction, base64/Latin1 decode, regex literal extraction, tag stripping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48640" y="5294376"/>
            <a:ext cx="11109960" cy="1170432"/>
          </a:xfrm>
          <a:prstGeom prst="roundRect">
            <a:avLst>
              <a:gd name="adj" fmla="val 625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22960" y="5404104"/>
            <a:ext cx="10607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9731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Discipline Model Routing at Scale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822960" y="5824728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/>
        </p:spPr>
      </p:sp>
      <p:sp>
        <p:nvSpPr>
          <p:cNvPr id="33" name="Text 31"/>
          <p:cNvSpPr/>
          <p:nvPr/>
        </p:nvSpPr>
        <p:spPr>
          <a:xfrm>
            <a:off x="822960" y="5824728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0F1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ROOT CAUSE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377440" y="5751576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single generic model handles all academic domains sub-optimally (e.g. math vs. writing)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720840" y="5824728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</p:sp>
      <p:sp>
        <p:nvSpPr>
          <p:cNvPr id="36" name="Text 34"/>
          <p:cNvSpPr/>
          <p:nvPr/>
        </p:nvSpPr>
        <p:spPr>
          <a:xfrm>
            <a:off x="6720840" y="5824728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0F1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SOLUTION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229600" y="5751576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8FAF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DISCIPLINE_MODEL_ROUTING table mapping 6 subjects to ordered specialist OpenRouter model chains with fallback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7295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355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ALPHAASK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9418320" y="-1463040"/>
            <a:ext cx="4754880" cy="4754880"/>
          </a:xfrm>
          <a:prstGeom prst="ellipse">
            <a:avLst/>
          </a:prstGeom>
          <a:solidFill>
            <a:srgbClr val="10B981">
              <a:alpha val="1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9731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Specification Compliance &amp; Conclusion</a:t>
            </a:r>
            <a:endParaRPr lang="en-US" sz="3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109960" cy="3108960"/>
        </p:xfrm>
        <a:graphic>
          <a:graphicData uri="http://schemas.openxmlformats.org/drawingml/2006/table">
            <a:tbl>
              <a:tblPr/>
              <a:tblGrid>
                <a:gridCol w="2331720"/>
                <a:gridCol w="3246120"/>
                <a:gridCol w="4251960"/>
                <a:gridCol w="1280160"/>
              </a:tblGrid>
              <a:tr h="3886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Requirement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44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Specification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44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Implementation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44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Status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449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AWS Cloud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44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Host infrastructure on AWS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44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Provisioned via Terraform in us-east-1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44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100%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449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API Gateway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44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Public API endpoints / proxy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44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Amazon API Gateway (HTTP API v2)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44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100%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449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AWS Lambda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44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Process backend requests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44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Docker container image on Lambda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44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100%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449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DynamoDB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44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Store questions &amp; responses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44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5 On-Demand tables + GSI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44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100%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449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AI Integration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44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Connect to external AI service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44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OpenRouter → Groq → Gemini → Bedrock, 4-provider failover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44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100%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449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CI/CD Pipeline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44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GitHub Actions workflow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44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4-Stage automated pipeline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44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100%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449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Agile Management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44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Track issues via Trello/Jira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44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Sprint workflow tracking stories &amp; bugs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44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100%</a:t>
                      </a:r>
                      <a:endParaRPr lang="en-US" sz="10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449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1463040"/>
            <a:ext cx="11109960" cy="3886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1463040"/>
            <a:ext cx="214884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0F1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Requirement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971800" y="1463040"/>
            <a:ext cx="306324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0F1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Specification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217920" y="1463040"/>
            <a:ext cx="406908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0F1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Implementation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0469880" y="1463040"/>
            <a:ext cx="109728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0F17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Status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48640" y="4754880"/>
            <a:ext cx="11109960" cy="1417320"/>
          </a:xfrm>
          <a:prstGeom prst="roundRect">
            <a:avLst>
              <a:gd name="adj" fmla="val 516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868680" y="49377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F8FAF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AlphaAsk delivers a high-performance, cost-optimized AI Academic Support platform with 4-provider AI resilience, RAG-grounded answers, and a full study toolkit — live now at alphaask.alphateam.live.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2026-08-06T00:28:25Z</dcterms:created>
  <dcterms:modified xsi:type="dcterms:W3CDTF">2026-08-06T00:28:25Z</dcterms:modified>
</cp:coreProperties>
</file>